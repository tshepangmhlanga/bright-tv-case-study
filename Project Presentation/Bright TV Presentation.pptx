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38206B-4928-486C-95A3-11F33009AE91}">
  <a:tblStyle styleId="{6338206B-4928-486C-95A3-11F33009AE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3f654c4c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3f654c4c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965474a9_3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e965474a9_3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e965474a9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e965474a9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6.jp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Bright TV Viewership Analysis </a:t>
            </a:r>
            <a:endParaRPr b="1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Prepared for: Bright TV CVM 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Focus: Subscriber Growth &amp; Engagement 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5000">
                <a:latin typeface="Georgia"/>
                <a:ea typeface="Georgia"/>
                <a:cs typeface="Georgia"/>
                <a:sym typeface="Georgia"/>
              </a:rPr>
              <a:t>Agenda</a:t>
            </a:r>
            <a:endParaRPr b="1" sz="3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p14"/>
          <p:cNvSpPr txBox="1"/>
          <p:nvPr>
            <p:ph idx="4294967295" type="title"/>
          </p:nvPr>
        </p:nvSpPr>
        <p:spPr>
          <a:xfrm>
            <a:off x="487575" y="1925825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" sz="2300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" sz="2300">
                <a:latin typeface="Arial"/>
                <a:ea typeface="Arial"/>
                <a:cs typeface="Arial"/>
                <a:sym typeface="Arial"/>
              </a:rPr>
              <a:t>Usage Insights</a:t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" sz="2300">
                <a:latin typeface="Arial"/>
                <a:ea typeface="Arial"/>
                <a:cs typeface="Arial"/>
                <a:sym typeface="Arial"/>
              </a:rPr>
              <a:t>Consumption Influence</a:t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" sz="2300">
                <a:latin typeface="Arial"/>
                <a:ea typeface="Arial"/>
                <a:cs typeface="Arial"/>
                <a:sym typeface="Arial"/>
              </a:rPr>
              <a:t>Content Recommendations</a:t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b="0" lang="en" sz="2300">
                <a:latin typeface="Arial"/>
                <a:ea typeface="Arial"/>
                <a:cs typeface="Arial"/>
                <a:sym typeface="Arial"/>
              </a:rPr>
              <a:t>Conclusion &amp; Next Steps</a:t>
            </a:r>
            <a:endParaRPr b="0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300" y="1010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7" name="Google Shape;147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413750" y="-105674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398225" y="362172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1. Intro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" name="Google Shape;149;p15"/>
          <p:cNvSpPr txBox="1"/>
          <p:nvPr>
            <p:ph idx="4294967295" type="body"/>
          </p:nvPr>
        </p:nvSpPr>
        <p:spPr>
          <a:xfrm>
            <a:off x="542775" y="11247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➔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subscriber base: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4,386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across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regions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➔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watch hours: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1,523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➔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Channels available: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➔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Audience spans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age groups</a:t>
            </a: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diverse ethnicities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➔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</a:t>
            </a: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Expand subscription base through data-driven strategies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6543200" y="2136900"/>
            <a:ext cx="262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74700" y="182125"/>
            <a:ext cx="86316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Usage Insights </a:t>
            </a:r>
            <a:endParaRPr>
              <a:solidFill>
                <a:schemeClr val="accent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 Channels Watched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ICC Cricket World Cup 2011 (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412 hrs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Live Events (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318 hrs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Channel O (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193 hrs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Trace TV (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192 hrs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56" name="Google Shape;156;p16" title="Top Most Watched Chann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3700" y="1292025"/>
            <a:ext cx="4951624" cy="35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74700" y="182125"/>
            <a:ext cx="86316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Usage Insights 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Regional Distribution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Gauteng (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1,607 subs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and Western Cape (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770 subs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lead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Smaller bases in Northern Cape (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82 subs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and Free State (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147 subs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Gender Split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Male watch hours (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1,348 hrs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vs Female (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139 hrs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descr="make the background of the image black"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93000"/>
            <a:ext cx="3889775" cy="30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 rotWithShape="1">
          <a:blip r:embed="rId4">
            <a:alphaModFix/>
          </a:blip>
          <a:srcRect b="2394" l="0" r="0" t="11168"/>
          <a:stretch/>
        </p:blipFill>
        <p:spPr>
          <a:xfrm>
            <a:off x="3889775" y="2040075"/>
            <a:ext cx="5175050" cy="30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title="Screenshot 2026-08-22 130220.png"/>
          <p:cNvPicPr preferRelativeResize="0"/>
          <p:nvPr/>
        </p:nvPicPr>
        <p:blipFill rotWithShape="1">
          <a:blip r:embed="rId5">
            <a:alphaModFix/>
          </a:blip>
          <a:srcRect b="12846" l="7324" r="6817" t="14785"/>
          <a:stretch/>
        </p:blipFill>
        <p:spPr>
          <a:xfrm>
            <a:off x="5930425" y="73825"/>
            <a:ext cx="3213574" cy="15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Consumption Influence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Age Groups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Youth &amp; Adults dominate; 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Pensioners &amp; Infants minimal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Peak Viewing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Weekends, especially 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Saturday evenings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Content Drivers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Sports (Cricket, Wimbledon, SuperSport Blitz)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Music &amp; Entertainment (Channel O, Trace TV, M-Net)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Regional Preferences</a:t>
            </a: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Stronger adoption in urban provinces</a:t>
            </a:r>
            <a:endParaRPr b="0" sz="2400"/>
          </a:p>
        </p:txBody>
      </p:sp>
      <p:pic>
        <p:nvPicPr>
          <p:cNvPr id="170" name="Google Shape;170;p18" title="Subscribers by Age Group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150" y="324850"/>
            <a:ext cx="4474849" cy="255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4">
            <a:alphaModFix/>
          </a:blip>
          <a:srcRect b="11681" l="0" r="0" t="11673"/>
          <a:stretch/>
        </p:blipFill>
        <p:spPr>
          <a:xfrm>
            <a:off x="359525" y="3252850"/>
            <a:ext cx="8262074" cy="174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81425" y="1100525"/>
            <a:ext cx="8878500" cy="28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★"/>
            </a:pPr>
            <a:r>
              <a:rPr b="0"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Expand 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sports coverage</a:t>
            </a:r>
            <a:r>
              <a:rPr b="0"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(exclusive rights, partnerships)</a:t>
            </a:r>
            <a:endParaRPr b="0"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★"/>
            </a:pPr>
            <a:r>
              <a:rPr b="0"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Boost 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youth content</a:t>
            </a:r>
            <a:r>
              <a:rPr b="0"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(music, cartoons, interactive shows)</a:t>
            </a:r>
            <a:endParaRPr b="0"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★"/>
            </a:pPr>
            <a:r>
              <a:rPr b="0"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Target 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female audiences</a:t>
            </a:r>
            <a:r>
              <a:rPr b="0"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lifestyle, drama, family programming</a:t>
            </a:r>
            <a:endParaRPr b="0"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★"/>
            </a:pPr>
            <a:r>
              <a:rPr b="0"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 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localized content</a:t>
            </a:r>
            <a:r>
              <a:rPr b="0"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for underrepresented provinces</a:t>
            </a:r>
            <a:endParaRPr b="0"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★"/>
            </a:pPr>
            <a:r>
              <a:rPr b="0"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Offer 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bundles &amp; student discounts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★"/>
            </a:pPr>
            <a:r>
              <a:rPr b="0"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Introduce 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loyalty rewards &amp; personalized recommendations</a:t>
            </a:r>
            <a:endParaRPr b="0" sz="2800">
              <a:solidFill>
                <a:schemeClr val="dk2"/>
              </a:solidFill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34900" y="233700"/>
            <a:ext cx="693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Content Recommendations</a:t>
            </a:r>
            <a:endParaRPr b="1" sz="3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Milestones Expected Outcome</a:t>
            </a:r>
            <a:endParaRPr>
              <a:solidFill>
                <a:schemeClr val="lt2"/>
              </a:solidFill>
            </a:endParaRPr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323100" y="239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{6338206B-4928-486C-95A3-11F33009AE91}</a:tableStyleId>
              </a:tblPr>
              <a:tblGrid>
                <a:gridCol w="710225"/>
                <a:gridCol w="710225"/>
                <a:gridCol w="710225"/>
                <a:gridCol w="382850"/>
                <a:gridCol w="1037600"/>
                <a:gridCol w="710225"/>
                <a:gridCol w="710225"/>
                <a:gridCol w="710225"/>
                <a:gridCol w="710225"/>
                <a:gridCol w="710225"/>
                <a:gridCol w="710225"/>
                <a:gridCol w="710225"/>
              </a:tblGrid>
              <a:tr h="7191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2026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2027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184" name="Google Shape;184;p20"/>
          <p:cNvCxnSpPr/>
          <p:nvPr/>
        </p:nvCxnSpPr>
        <p:spPr>
          <a:xfrm rot="10800000">
            <a:off x="569975" y="1439375"/>
            <a:ext cx="0" cy="9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5" name="Google Shape;185;p20"/>
          <p:cNvSpPr txBox="1"/>
          <p:nvPr>
            <p:ph type="title"/>
          </p:nvPr>
        </p:nvSpPr>
        <p:spPr>
          <a:xfrm>
            <a:off x="646175" y="1235062"/>
            <a:ext cx="23157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October 2014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86" name="Google Shape;186;p20"/>
          <p:cNvSpPr txBox="1"/>
          <p:nvPr>
            <p:ph idx="4294967295" type="body"/>
          </p:nvPr>
        </p:nvSpPr>
        <p:spPr>
          <a:xfrm>
            <a:off x="646175" y="1560476"/>
            <a:ext cx="23157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8571"/>
              <a:buFont typeface="Arial"/>
              <a:buNone/>
            </a:pPr>
            <a:r>
              <a:rPr lang="en" sz="1400"/>
              <a:t>+20% Subscriber growth in underrepresented provinces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7" name="Google Shape;187;p20"/>
          <p:cNvSpPr txBox="1"/>
          <p:nvPr>
            <p:ph type="title"/>
          </p:nvPr>
        </p:nvSpPr>
        <p:spPr>
          <a:xfrm>
            <a:off x="3251009" y="3668337"/>
            <a:ext cx="23157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August 2015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88" name="Google Shape;188;p20"/>
          <p:cNvSpPr txBox="1"/>
          <p:nvPr>
            <p:ph idx="4294967295" type="body"/>
          </p:nvPr>
        </p:nvSpPr>
        <p:spPr>
          <a:xfrm>
            <a:off x="3251009" y="3993750"/>
            <a:ext cx="23157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Higher retention among youth </a:t>
            </a:r>
            <a:r>
              <a:rPr lang="en" sz="1400"/>
              <a:t>subscribers</a:t>
            </a:r>
            <a:r>
              <a:rPr lang="en" sz="1400"/>
              <a:t> </a:t>
            </a:r>
            <a:endParaRPr sz="1400"/>
          </a:p>
        </p:txBody>
      </p:sp>
      <p:sp>
        <p:nvSpPr>
          <p:cNvPr id="189" name="Google Shape;189;p20"/>
          <p:cNvSpPr txBox="1"/>
          <p:nvPr>
            <p:ph type="title"/>
          </p:nvPr>
        </p:nvSpPr>
        <p:spPr>
          <a:xfrm>
            <a:off x="5091057" y="1235062"/>
            <a:ext cx="23532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October 2015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90" name="Google Shape;190;p20"/>
          <p:cNvSpPr txBox="1"/>
          <p:nvPr>
            <p:ph idx="4294967295" type="body"/>
          </p:nvPr>
        </p:nvSpPr>
        <p:spPr>
          <a:xfrm>
            <a:off x="5091049" y="1560476"/>
            <a:ext cx="23532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15 % increase in female watch hours</a:t>
            </a:r>
            <a:endParaRPr sz="1400"/>
          </a:p>
        </p:txBody>
      </p:sp>
      <p:sp>
        <p:nvSpPr>
          <p:cNvPr id="191" name="Google Shape;191;p20"/>
          <p:cNvSpPr txBox="1"/>
          <p:nvPr>
            <p:ph type="title"/>
          </p:nvPr>
        </p:nvSpPr>
        <p:spPr>
          <a:xfrm>
            <a:off x="6245122" y="3668337"/>
            <a:ext cx="23532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November 2015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92" name="Google Shape;192;p20"/>
          <p:cNvSpPr txBox="1"/>
          <p:nvPr>
            <p:ph idx="4294967295" type="body"/>
          </p:nvPr>
        </p:nvSpPr>
        <p:spPr>
          <a:xfrm>
            <a:off x="6245125" y="3993750"/>
            <a:ext cx="23532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Stronger brand positioning in sports &amp; entertainment </a:t>
            </a:r>
            <a:endParaRPr sz="1400"/>
          </a:p>
        </p:txBody>
      </p:sp>
      <p:cxnSp>
        <p:nvCxnSpPr>
          <p:cNvPr id="193" name="Google Shape;193;p20"/>
          <p:cNvCxnSpPr/>
          <p:nvPr/>
        </p:nvCxnSpPr>
        <p:spPr>
          <a:xfrm>
            <a:off x="3174800" y="3113100"/>
            <a:ext cx="0" cy="8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4" name="Google Shape;194;p20"/>
          <p:cNvCxnSpPr/>
          <p:nvPr/>
        </p:nvCxnSpPr>
        <p:spPr>
          <a:xfrm rot="10800000">
            <a:off x="4997750" y="1439375"/>
            <a:ext cx="0" cy="9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6168925" y="3113100"/>
            <a:ext cx="0" cy="8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Bright TV has strong 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sports &amp; entertainment appeal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Growth opportunities: 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regional expansion, female engagement, youth focus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Action Plan: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Pilot new content categories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Launch targeted marketing campaigns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b="0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Track subscriber growth quarterly</a:t>
            </a:r>
            <a:endParaRPr b="0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1285300" y="2990450"/>
            <a:ext cx="671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YOU!!</a:t>
            </a: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6895325" y="4121800"/>
            <a:ext cx="227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Tshepang Mhlanga</a:t>
            </a:r>
            <a:endParaRPr b="1" i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50500" y="109650"/>
            <a:ext cx="671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Next Steps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